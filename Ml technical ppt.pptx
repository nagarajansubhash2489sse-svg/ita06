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9" r:id="rId8"/>
    <p:sldId id="261" r:id="rId9"/>
    <p:sldId id="262" r:id="rId10"/>
    <p:sldId id="268" r:id="rId11"/>
    <p:sldId id="263" r:id="rId12"/>
    <p:sldId id="264" r:id="rId13"/>
    <p:sldId id="267" r:id="rId14"/>
    <p:sldId id="265" r:id="rId15"/>
    <p:sldId id="266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C95B8-76E8-41EE-A93C-E64047683D2D}" v="15" dt="2026-07-31T17:41:43.598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E81AB-148F-4855-9E71-7CEFFB52074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760AF-0FD9-4529-B6FC-BAB794D33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760AF-0FD9-4529-B6FC-BAB794D336C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4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5FE2-7CDE-8759-E97B-5B1445045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247E9-E8A9-4923-40B9-7E3F2D470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2FCE-3CE1-31AD-C03F-94D43BC8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1F7A-9E6B-5DB1-A108-D166AF76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28DE6-3489-4969-F955-8A28BCD8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2ECA-5519-A09B-B887-3101ECC7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FE0D-F81F-AE27-EB24-6484E573F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193F-26CF-6DFB-F2D8-736A6FFF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D337F-BD95-2793-D4C6-F23B64E3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45BA-525F-1E26-FCDD-7B629567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5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B02B-7918-BB24-24D2-6D6175C1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92D36-1B2C-F7A7-2D50-B44DCB1D7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E94AD-B89B-C432-2163-5782E620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B69A-AEFF-9C22-9517-E5C464A7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776C1-3414-3715-10B8-38149952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6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E29E-A326-964C-63BF-7691D7FA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0124-C17B-E487-715E-C081D2E6A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49F53-063E-A950-F7E7-1C813C5B3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839F6-FA17-67D1-6D69-20902320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D4493-65C3-5049-C0B5-BFC7ECD6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16932-EBB2-9CAA-F8B7-7DD02054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3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A507-A376-9FFC-CECC-40D4A20B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6D7B2-D0FC-14EC-FDD0-5EE550C6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5FB27-D86B-A52B-BE58-9C31C63C5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FBF60-7ED1-5AF6-87D8-3FB0DBC82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83B5E-0414-CC7C-D00E-6B83D3342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0E5F9-2A6F-3E61-62EB-06F85C18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9EB73-CE49-68AC-7F9A-C886F1E1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4CD6A-2898-1735-B256-A3060750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93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F12D-DA22-BEB6-9E40-449335AC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106BB-1E25-7C98-551F-F93CE441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28934-3328-D6AB-0BFF-CC9A2B1D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89393-CA81-E573-F734-EE02126D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3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EB0E8-D08B-6769-EA0E-1ACD6EA3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8E286-155C-4A54-706E-E233A4B5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E573-A0A4-4FEF-E553-5160E722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5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B9AA-36AD-C72F-46E4-B238AAA1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8BA55-7C89-9438-6958-06A6F808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743B-D0C3-6221-4879-304952D96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42795-5086-02ED-ED84-0E3E39F7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5FD7B-6F4F-B31D-B1E5-A79FEF13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42E85-644D-7DFB-948A-7E49E0CC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4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9C19-8415-64A7-841E-63FE4CA8A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B94C5-0A82-D249-AD0D-A22621337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F36BA-4C12-8F08-56CC-9BAEB3CCB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41F3D-9800-A171-E302-6C3C93EA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F567C-F89A-F94D-ACF8-8ADFDA07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B4912-AC9D-C2BB-1BA8-DA19E65B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0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5B18-1339-C06C-4DC1-4A341726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D43C-4BD4-AEC0-4286-D8F746E6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6245C-56F6-09E3-8203-71D49E6C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D4576-3CD9-22BD-A21E-4AF99691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7FF9C-4A4D-83CA-7937-888A03FB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58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1467F-F68C-3B42-3387-4E96F5676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DE132-5C3F-AB6D-F44A-FF5DEA109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1DC2-7A3B-1A58-5D18-C07E4BD3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38BA9-5373-D84E-9B27-7DA55C0D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C37C-ED7F-257F-1471-7C8EB070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23E8E-3C99-C501-5127-D55928C6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F9836-F1D8-72DE-A949-6EDE11D9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26150-2480-2F41-6A50-5FEBE06D0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9FC67-1153-4F56-AC40-D6614DFC029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3BF53-6E87-14A3-B607-902C52994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A983-2F18-4B12-101D-DB9390BCF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0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91F4DA-1E10-452C-30C9-F20C00AAF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9667"/>
            <a:ext cx="9144000" cy="113324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ITA0602 – MACHINE LEARNING</a:t>
            </a:r>
          </a:p>
          <a:p>
            <a:r>
              <a:rPr lang="en-IN" b="1" dirty="0"/>
              <a:t>Technical presentation </a:t>
            </a:r>
          </a:p>
          <a:p>
            <a:r>
              <a:rPr lang="en-IN" b="1" dirty="0"/>
              <a:t>GUIDED BY:-DR ANAKATH ARASAN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CDC5F844-5647-909A-234F-F8595AC8F26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246888"/>
            <a:ext cx="11887200" cy="1353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5F2C33-2DE9-ECE0-3CFD-5E3E46EB80AC}"/>
              </a:ext>
            </a:extLst>
          </p:cNvPr>
          <p:cNvSpPr txBox="1"/>
          <p:nvPr/>
        </p:nvSpPr>
        <p:spPr>
          <a:xfrm>
            <a:off x="990600" y="4354285"/>
            <a:ext cx="463731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Presented by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NAGARAJAN SUBHASH (192312489)</a:t>
            </a:r>
          </a:p>
        </p:txBody>
      </p:sp>
    </p:spTree>
    <p:extLst>
      <p:ext uri="{BB962C8B-B14F-4D97-AF65-F5344CB8AC3E}">
        <p14:creationId xmlns:p14="http://schemas.microsoft.com/office/powerpoint/2010/main" val="285644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03C8A-C006-0EBF-2E49-9C4311147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74" y="246861"/>
            <a:ext cx="11495315" cy="585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</a:p>
          <a:p>
            <a:pPr marL="0" indent="0">
              <a:buNone/>
            </a:pPr>
            <a:r>
              <a:rPr lang="en-IN" sz="2400" dirty="0"/>
              <a:t>Ensemble learning is a machine learning technique that combines the predictions of multiple models to produce a stronger and more accurate final prediction.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Improves accuracy:</a:t>
            </a:r>
            <a:r>
              <a:rPr lang="en-IN" sz="2400" dirty="0"/>
              <a:t> Combining multiple models can produce more reliable predictions than a single model.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Reduces errors:</a:t>
            </a:r>
            <a:r>
              <a:rPr lang="en-IN" sz="2400" dirty="0"/>
              <a:t> It can reduce problems such as </a:t>
            </a:r>
            <a:r>
              <a:rPr lang="en-IN" sz="2400" b="1" dirty="0"/>
              <a:t>high variance and high bias</a:t>
            </a:r>
            <a:r>
              <a:rPr lang="en-IN" sz="24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Improves robustness:</a:t>
            </a:r>
            <a:r>
              <a:rPr lang="en-IN" sz="2400" dirty="0"/>
              <a:t> The final prediction is less dependent on the weaknesses of one individual model.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Better generalization:</a:t>
            </a:r>
            <a:r>
              <a:rPr lang="en-IN" sz="2400" dirty="0"/>
              <a:t> Ensemble methods can perform well on unseen data.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Useful in real-world applications:</a:t>
            </a:r>
            <a:r>
              <a:rPr lang="en-IN" sz="2400" dirty="0"/>
              <a:t> They are widely useful for classification, prediction, recommendation, fraud detection, and other machine learning tasks.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98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F5EE-021E-70F8-0270-C8CB28EF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6" y="424192"/>
            <a:ext cx="10515600" cy="61504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Techniques &amp; PCA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Methods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Multiple Models:</a:t>
            </a:r>
            <a:r>
              <a:rPr lang="en-IN" sz="2400" dirty="0"/>
              <a:t> Uses several individual models called learners.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Model Combination:</a:t>
            </a:r>
            <a:r>
              <a:rPr lang="en-IN" sz="2400" dirty="0"/>
              <a:t> Combines their outputs to obtain the final result.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Higher Accuracy:</a:t>
            </a:r>
            <a:r>
              <a:rPr lang="en-IN" sz="2400" dirty="0"/>
              <a:t> Multiple predictions can produce better results.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Methods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Bagging:</a:t>
            </a:r>
            <a:r>
              <a:rPr lang="en-IN" sz="2400" dirty="0"/>
              <a:t> Trains multiple models independently and combines their predictions.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Boosting:</a:t>
            </a:r>
            <a:r>
              <a:rPr lang="en-IN" sz="2400" dirty="0"/>
              <a:t> Builds models sequentially, giving more attention to previous errors.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b="1" dirty="0"/>
              <a:t>Stacking:</a:t>
            </a:r>
            <a:r>
              <a:rPr lang="en-IN" sz="2400" dirty="0"/>
              <a:t> Combines different models using another model to make the final prediction.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Methods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Trains multiple models independently using different samples of the dataset.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Combines their predictions to produce a final result.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Combines predictions from </a:t>
            </a:r>
            <a:r>
              <a:rPr lang="en-IN" sz="2400" b="1" dirty="0"/>
              <a:t>different types of machine learning models</a:t>
            </a:r>
            <a:r>
              <a:rPr lang="en-IN" sz="24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A final model, called a </a:t>
            </a:r>
            <a:r>
              <a:rPr lang="en-IN" sz="2400" b="1" dirty="0"/>
              <a:t>meta-learner</a:t>
            </a:r>
            <a:r>
              <a:rPr lang="en-IN" sz="2400" dirty="0"/>
              <a:t>, learns how to combine their predictions.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Can improve overall predictive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55997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AD1B08-1DE3-F394-39C8-EB7780FC1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6" y="108155"/>
            <a:ext cx="11375921" cy="64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3954-4608-0932-2AAC-D2E2BFE8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762000"/>
            <a:ext cx="10515600" cy="538842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Techniques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determines how well a machine learning model performs on unseen data.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Divides data into training and testing sets.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K-folds for reliable evaluation.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Random sampling with replacement for small datasets.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unbiased performance estimation.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different models effectively.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22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97E4-99C7-ECA3-F023-2EC1DD3C7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87086"/>
            <a:ext cx="10515600" cy="668382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Performance Metrics &amp; Validation  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b="1" dirty="0"/>
              <a:t>Classification Metrics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Accuracy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Precision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Recall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F1-Score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Confusion Matrix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ROC Curve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b="1" dirty="0"/>
              <a:t>Regression Metrics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MSE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RMSE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R² Score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4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4F17-B1C9-5A7D-2734-2EEA7B98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8531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Model Evaluation | Saturn Cloud">
            <a:extLst>
              <a:ext uri="{FF2B5EF4-FFF2-40B4-BE49-F238E27FC236}">
                <a16:creationId xmlns:a16="http://schemas.microsoft.com/office/drawing/2014/main" id="{F90B16B0-D5D9-D069-24A2-2D533E55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5"/>
            <a:ext cx="8964561" cy="536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5EE4-46A4-D57E-2884-9AC2BB84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6" y="334648"/>
            <a:ext cx="10515600" cy="5665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 Preprocessing, Post-Processing &amp; Evaluation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Data Preprocessing, Post-Processing and Evaluation</a:t>
            </a:r>
            <a:r>
              <a:rPr lang="en-IN" dirty="0"/>
              <a:t> is the process of preparing raw data, refining the model's output, and measuring the performance of a machine learning model to ensure accurate and reliable results. </a:t>
            </a:r>
          </a:p>
          <a:p>
            <a:pPr marL="0" indent="0">
              <a:buNone/>
            </a:pPr>
            <a:r>
              <a:rPr lang="en-IN" b="1" dirty="0"/>
              <a:t>Performance Metrics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Improves the </a:t>
            </a:r>
            <a:r>
              <a:rPr lang="en-IN" b="1" dirty="0"/>
              <a:t>quality and consistency</a:t>
            </a:r>
            <a:r>
              <a:rPr lang="en-IN" dirty="0"/>
              <a:t> of machine learning data.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Removes errors and unwanted information from datasets.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Helps the model learn </a:t>
            </a:r>
            <a:r>
              <a:rPr lang="en-IN" b="1" dirty="0"/>
              <a:t>important patterns and features</a:t>
            </a:r>
            <a:r>
              <a:rPr lang="en-IN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Improves model </a:t>
            </a:r>
            <a:r>
              <a:rPr lang="en-IN" b="1" dirty="0"/>
              <a:t>efficiency and performance</a:t>
            </a:r>
            <a:r>
              <a:rPr lang="en-IN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Makes the final results easier to </a:t>
            </a:r>
            <a:r>
              <a:rPr lang="en-IN" b="1" dirty="0"/>
              <a:t>interpret and visualize</a:t>
            </a:r>
            <a:r>
              <a:rPr lang="en-IN" dirty="0"/>
              <a:t>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02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29AA54-2A70-F149-0A3C-85EC066046B7}"/>
              </a:ext>
            </a:extLst>
          </p:cNvPr>
          <p:cNvSpPr txBox="1"/>
          <p:nvPr/>
        </p:nvSpPr>
        <p:spPr>
          <a:xfrm>
            <a:off x="189271" y="4097594"/>
            <a:ext cx="892523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</a:p>
          <a:p>
            <a:pPr lvl="0"/>
            <a:r>
              <a:rPr lang="en-IN" sz="2000" b="1" dirty="0"/>
              <a:t>Accuracy</a:t>
            </a:r>
            <a:r>
              <a:rPr lang="en-IN" sz="2000" dirty="0"/>
              <a:t> – Measures the proportion of correct predictions. </a:t>
            </a:r>
          </a:p>
          <a:p>
            <a:pPr lvl="0"/>
            <a:r>
              <a:rPr lang="en-IN" sz="2000" b="1" dirty="0"/>
              <a:t>Precision</a:t>
            </a:r>
            <a:r>
              <a:rPr lang="en-IN" sz="2000" dirty="0"/>
              <a:t> – Measures the correctness of positive predictions. </a:t>
            </a:r>
          </a:p>
          <a:p>
            <a:pPr lvl="0"/>
            <a:r>
              <a:rPr lang="en-IN" sz="2000" b="1" dirty="0"/>
              <a:t>Recall</a:t>
            </a:r>
            <a:r>
              <a:rPr lang="en-IN" sz="2000" dirty="0"/>
              <a:t> – Measures how many actual positive cases are identified. </a:t>
            </a:r>
          </a:p>
          <a:p>
            <a:pPr lvl="0"/>
            <a:r>
              <a:rPr lang="en-IN" sz="2000" b="1" dirty="0"/>
              <a:t>F1-Score</a:t>
            </a:r>
            <a:r>
              <a:rPr lang="en-IN" sz="2000" dirty="0"/>
              <a:t> – Combines precision and recall. </a:t>
            </a:r>
          </a:p>
          <a:p>
            <a:pPr lvl="0"/>
            <a:r>
              <a:rPr lang="en-IN" sz="2000" b="1" dirty="0"/>
              <a:t>Cross-Validation</a:t>
            </a:r>
            <a:r>
              <a:rPr lang="en-IN" sz="2000" dirty="0"/>
              <a:t> – Checks model robustness and generalizability.</a:t>
            </a:r>
          </a:p>
        </p:txBody>
      </p:sp>
      <p:pic>
        <p:nvPicPr>
          <p:cNvPr id="6" name="Picture 5" descr="Data Preprocessing in Data Mining - GeeksforGeeks">
            <a:extLst>
              <a:ext uri="{FF2B5EF4-FFF2-40B4-BE49-F238E27FC236}">
                <a16:creationId xmlns:a16="http://schemas.microsoft.com/office/drawing/2014/main" id="{51E2BB62-6923-F896-1C40-45D315A35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88" y="238586"/>
            <a:ext cx="11024112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6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ven Steps in Data Preprocessing for Better Insights!">
            <a:extLst>
              <a:ext uri="{FF2B5EF4-FFF2-40B4-BE49-F238E27FC236}">
                <a16:creationId xmlns:a16="http://schemas.microsoft.com/office/drawing/2014/main" id="{56E82A73-0957-94C5-1621-BF4D3165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3" y="186813"/>
            <a:ext cx="10471355" cy="581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6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C449-ED7B-9EE4-343B-03E0DE1D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56762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Publication Potential</a:t>
            </a:r>
          </a:p>
          <a:p>
            <a:r>
              <a:rPr lang="en-IN" dirty="0"/>
              <a:t>Machine learning systems continue to evolve with advancements in AI and data processing.</a:t>
            </a:r>
          </a:p>
          <a:p>
            <a:r>
              <a:rPr lang="en-IN" b="1" dirty="0"/>
              <a:t>Future Enhancements</a:t>
            </a:r>
          </a:p>
          <a:p>
            <a:pPr lvl="0"/>
            <a:r>
              <a:rPr lang="en-IN" dirty="0"/>
              <a:t>Use larger and more diverse datasets.</a:t>
            </a:r>
          </a:p>
          <a:p>
            <a:pPr lvl="0"/>
            <a:r>
              <a:rPr lang="en-IN" dirty="0"/>
              <a:t>Integrate real-time data processing.</a:t>
            </a:r>
          </a:p>
          <a:p>
            <a:pPr lvl="0"/>
            <a:r>
              <a:rPr lang="en-IN" dirty="0"/>
              <a:t>Apply Deep Learning techniques.</a:t>
            </a:r>
          </a:p>
          <a:p>
            <a:pPr lvl="0"/>
            <a:r>
              <a:rPr lang="en-IN" dirty="0"/>
              <a:t>Develop hybrid and ensemble models.</a:t>
            </a:r>
          </a:p>
          <a:p>
            <a:pPr lvl="0"/>
            <a:r>
              <a:rPr lang="en-IN" dirty="0"/>
              <a:t>Deploy on cloud and edge computing.</a:t>
            </a:r>
          </a:p>
          <a:p>
            <a:pPr lvl="0"/>
            <a:r>
              <a:rPr lang="en-IN" dirty="0"/>
              <a:t>Improve explainability using Explainable AI (XAI).</a:t>
            </a:r>
          </a:p>
        </p:txBody>
      </p:sp>
    </p:spTree>
    <p:extLst>
      <p:ext uri="{BB962C8B-B14F-4D97-AF65-F5344CB8AC3E}">
        <p14:creationId xmlns:p14="http://schemas.microsoft.com/office/powerpoint/2010/main" val="403406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8623-7C42-D038-097C-0F9E7B0DA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Publication Potential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Research work can be converted into a journal or conference paper using a structured format.</a:t>
            </a:r>
          </a:p>
          <a:p>
            <a:pPr marL="0" indent="0">
              <a:buNone/>
            </a:pPr>
            <a:r>
              <a:rPr lang="en-IN" b="1" dirty="0"/>
              <a:t>Research Paper Structure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Abstract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Introduction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Literature Review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Methodology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Results &amp; Discussion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References</a:t>
            </a:r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Academic recognition.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Knowledge sharing.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Supports future research.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45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rtificial Intelligence - Career Scope And Growth - IIMT Group of Colleges">
            <a:extLst>
              <a:ext uri="{FF2B5EF4-FFF2-40B4-BE49-F238E27FC236}">
                <a16:creationId xmlns:a16="http://schemas.microsoft.com/office/drawing/2014/main" id="{B2BF1F72-4647-0B87-7230-81E25E14F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344129"/>
            <a:ext cx="7029450" cy="500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2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A76D-0A2F-8831-0866-CA170C8D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171"/>
            <a:ext cx="10515600" cy="52407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and Hypothesis Representation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Concept learning</a:t>
            </a:r>
            <a:r>
              <a:rPr lang="en-IN" dirty="0"/>
              <a:t> is the process of learning a general concept or rule from a set of training examples. A </a:t>
            </a:r>
            <a:r>
              <a:rPr lang="en-IN" b="1" dirty="0"/>
              <a:t>hypothesis</a:t>
            </a:r>
            <a:r>
              <a:rPr lang="en-IN" dirty="0"/>
              <a:t> represents a possible rule that can be used to classify or describe the examples.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Types</a:t>
            </a:r>
          </a:p>
          <a:p>
            <a:pPr lvl="0"/>
            <a:r>
              <a:rPr lang="en-IN" dirty="0"/>
              <a:t>Helps machines learn </a:t>
            </a:r>
            <a:r>
              <a:rPr lang="en-IN" b="1" dirty="0"/>
              <a:t>concepts from training examples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Supports </a:t>
            </a:r>
            <a:r>
              <a:rPr lang="en-IN" b="1" dirty="0"/>
              <a:t>classification problems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Helps discover useful </a:t>
            </a:r>
            <a:r>
              <a:rPr lang="en-IN" b="1" dirty="0"/>
              <a:t>patterns and rules</a:t>
            </a:r>
            <a:r>
              <a:rPr lang="en-IN" dirty="0"/>
              <a:t> from data. </a:t>
            </a:r>
          </a:p>
          <a:p>
            <a:pPr lvl="0"/>
            <a:r>
              <a:rPr lang="en-IN" dirty="0"/>
              <a:t>Provides a structured way to represent possible solutions.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89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EE32-C461-AAE6-CC5C-5A8FCD01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432" y="769374"/>
            <a:ext cx="10515600" cy="560614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Learning Perspectives &amp; Challenges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Learning Perspectives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Symbolic Approach: Uses logical rules and knowledge representation.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Statistical Approach: Uses probability and data-driven models.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Challenges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Poor data quality.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Overfitting and underfitting.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Computational complexity.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Scalability.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Feature selection and preprocessing.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448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ypothesis Space | Springer Nature Link">
            <a:extLst>
              <a:ext uri="{FF2B5EF4-FFF2-40B4-BE49-F238E27FC236}">
                <a16:creationId xmlns:a16="http://schemas.microsoft.com/office/drawing/2014/main" id="{9DAFABDF-0677-C87C-193A-7245CE6C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3" y="757084"/>
            <a:ext cx="10736826" cy="552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4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698</Words>
  <Application>Microsoft Office PowerPoint</Application>
  <PresentationFormat>Widescreen</PresentationFormat>
  <Paragraphs>105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Subbu K</dc:creator>
  <cp:lastModifiedBy>nagarjan subhash</cp:lastModifiedBy>
  <cp:revision>2</cp:revision>
  <dcterms:created xsi:type="dcterms:W3CDTF">2026-07-30T06:14:23Z</dcterms:created>
  <dcterms:modified xsi:type="dcterms:W3CDTF">2026-08-08T05:13:27Z</dcterms:modified>
</cp:coreProperties>
</file>